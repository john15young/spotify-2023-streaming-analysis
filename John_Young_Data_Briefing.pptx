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65BED21-1592-7365-A53D-427166428130}">
          <p14:sldIdLst>
            <p14:sldId id="256"/>
          </p14:sldIdLst>
        </p14:section>
        <p14:section name="Finding" id="{15EF8176-131E-9229-D248-C01EB6B5E252}">
          <p14:sldIdLst>
            <p14:sldId id="257"/>
          </p14:sldIdLst>
        </p14:section>
        <p14:section name="Method" id="{6FA0584F-A1AE-566F-19A6-5DB86A8BD789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36"/>
    <p:restoredTop sz="68904"/>
  </p:normalViewPr>
  <p:slideViewPr>
    <p:cSldViewPr snapToGrid="0" snapToObjects="1">
      <p:cViewPr varScale="1">
        <p:scale>
          <a:sx n="94" d="100"/>
          <a:sy n="94" d="100"/>
        </p:scale>
        <p:origin x="2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91414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91414"/>
                </a:solidFill>
                <a:latin typeface="+mn-lt"/>
              </a:rPr>
              <a:t>Share of variance in streams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Playlists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Streaming variance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67.95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E-564A-A40E-8889C879E0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Song characteristics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Streaming variance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AE-564A-A40E-8889C879E0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Unexplained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Streaming variance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AE-564A-A40E-8889C879E09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3E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3E3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E3E3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09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 looked at the most streamed songs on Spotify in </a:t>
            </a:r>
            <a:r>
              <a:rPr lang="en-US" dirty="0"/>
              <a:t>2023, and I asked </a:t>
            </a:r>
            <a:r>
              <a:rPr dirty="0"/>
              <a:t>among songs that are ALREADY hits, what predicts</a:t>
            </a:r>
          </a:p>
          <a:p>
            <a:r>
              <a:rPr dirty="0"/>
              <a:t>how much they get streamed?</a:t>
            </a:r>
          </a:p>
          <a:p>
            <a:endParaRPr dirty="0"/>
          </a:p>
          <a:p>
            <a:r>
              <a:rPr dirty="0"/>
              <a:t>Two </a:t>
            </a:r>
            <a:r>
              <a:rPr lang="en-US" dirty="0"/>
              <a:t>possibilities</a:t>
            </a:r>
            <a:r>
              <a:rPr dirty="0"/>
              <a:t>. 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dirty="0"/>
              <a:t>What the song sounds like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dirty="0"/>
              <a:t>Or how </a:t>
            </a:r>
            <a:r>
              <a:rPr lang="en-US" dirty="0"/>
              <a:t>many</a:t>
            </a:r>
            <a:r>
              <a:rPr dirty="0"/>
              <a:t> playlis</a:t>
            </a:r>
            <a:r>
              <a:rPr lang="en-US" dirty="0"/>
              <a:t>ts it is 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Playlists win. It isn't close.</a:t>
            </a:r>
          </a:p>
          <a:p>
            <a:endParaRPr dirty="0"/>
          </a:p>
          <a:p>
            <a:r>
              <a:rPr dirty="0"/>
              <a:t>One variable - how many playlists a song is on - explains 68% of the</a:t>
            </a:r>
            <a:r>
              <a:rPr lang="en-US" dirty="0"/>
              <a:t> </a:t>
            </a:r>
            <a:r>
              <a:rPr dirty="0"/>
              <a:t>variation in streams.</a:t>
            </a:r>
          </a:p>
          <a:p>
            <a:endParaRPr dirty="0"/>
          </a:p>
          <a:p>
            <a:r>
              <a:rPr dirty="0"/>
              <a:t>Add danceability, energy, and valence on top of that, and you go from</a:t>
            </a:r>
            <a:r>
              <a:rPr lang="en-US" dirty="0"/>
              <a:t> </a:t>
            </a:r>
            <a:r>
              <a:rPr dirty="0"/>
              <a:t>67.95% to 68.04%.</a:t>
            </a:r>
          </a:p>
          <a:p>
            <a:endParaRPr dirty="0"/>
          </a:p>
          <a:p>
            <a:r>
              <a:rPr dirty="0"/>
              <a:t>Three measures of what the song actually SOUNDS like. They buy you</a:t>
            </a:r>
            <a:r>
              <a:rPr lang="en-US" dirty="0"/>
              <a:t> only </a:t>
            </a:r>
            <a:r>
              <a:rPr dirty="0"/>
              <a:t>nine hundredths of one percent.</a:t>
            </a:r>
          </a:p>
          <a:p>
            <a:endParaRPr lang="en-US" dirty="0"/>
          </a:p>
          <a:p>
            <a:r>
              <a:rPr dirty="0"/>
              <a:t>- Green block = playlists</a:t>
            </a:r>
          </a:p>
          <a:p>
            <a:r>
              <a:rPr dirty="0"/>
              <a:t>- The </a:t>
            </a:r>
            <a:r>
              <a:rPr lang="en-US" dirty="0"/>
              <a:t>navy blue</a:t>
            </a:r>
            <a:r>
              <a:rPr dirty="0"/>
              <a:t> sliver you can barely see = everything about how the song sounds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Dependent variable is streams, logged. 951 songs after I removed two</a:t>
            </a:r>
            <a:r>
              <a:rPr lang="en-US" dirty="0"/>
              <a:t> </a:t>
            </a:r>
            <a:r>
              <a:rPr dirty="0"/>
              <a:t>records with corrupted stream counts.</a:t>
            </a:r>
          </a:p>
          <a:p>
            <a:endParaRPr dirty="0"/>
          </a:p>
          <a:p>
            <a:r>
              <a:rPr dirty="0"/>
              <a:t>Predictors: playlist count, logged, plus the three audio features.</a:t>
            </a:r>
          </a:p>
          <a:p>
            <a:endParaRPr dirty="0"/>
          </a:p>
          <a:p>
            <a:r>
              <a:rPr dirty="0"/>
              <a:t>Because both sides are logged, that 0.672 reads as an elasticity -</a:t>
            </a:r>
            <a:r>
              <a:rPr lang="en-US" dirty="0"/>
              <a:t> </a:t>
            </a:r>
            <a:r>
              <a:rPr dirty="0"/>
              <a:t>a 10% increase in playlists, about 6.7% more streams.</a:t>
            </a:r>
          </a:p>
          <a:p>
            <a:endParaRPr dirty="0"/>
          </a:p>
          <a:p>
            <a:r>
              <a:rPr lang="en-US" dirty="0"/>
              <a:t>If you look at the p-values, only log of playlists is significant.</a:t>
            </a:r>
            <a:endParaRPr dirty="0"/>
          </a:p>
          <a:p>
            <a:endParaRPr dirty="0"/>
          </a:p>
          <a:p>
            <a:r>
              <a:rPr i="1" u="sng" dirty="0"/>
              <a:t>CLOSE</a:t>
            </a:r>
            <a:r>
              <a:rPr lang="en-US" i="1" u="sng" dirty="0"/>
              <a:t>R</a:t>
            </a:r>
            <a:endParaRPr i="1" u="sng" dirty="0"/>
          </a:p>
          <a:p>
            <a:r>
              <a:rPr lang="en-US" dirty="0"/>
              <a:t>I can't prove playlists cause the streams. It could go the other way. But either way, it isn't the song."</a:t>
            </a:r>
          </a:p>
          <a:p>
            <a:endParaRPr dirty="0"/>
          </a:p>
          <a:p>
            <a:endParaRPr dirty="0"/>
          </a:p>
          <a:p>
            <a:r>
              <a:rPr dirty="0"/>
              <a:t>---------------------------------------------------------------</a:t>
            </a:r>
            <a:r>
              <a:rPr lang="en-US" dirty="0"/>
              <a:t>---------------------------------------------------------------------------------------------------------------------------------------------</a:t>
            </a:r>
            <a:endParaRPr dirty="0"/>
          </a:p>
          <a:p>
            <a:r>
              <a:rPr lang="en-US" u="sng" dirty="0"/>
              <a:t>POTENTIAL QUESTIONS</a:t>
            </a:r>
          </a:p>
          <a:p>
            <a:endParaRPr lang="en-US" u="sng" dirty="0"/>
          </a:p>
          <a:p>
            <a:r>
              <a:rPr lang="en-US" dirty="0"/>
              <a:t>Q: "Why don't audio features matter at all?"</a:t>
            </a:r>
          </a:p>
          <a:p>
            <a:r>
              <a:rPr lang="en-US" dirty="0"/>
              <a:t>A: "Every song in this dataset is already a hit. Audio features may have mattered a lot in deciding which songs got here, but once you’re a hit the song sounds doesn’t separate the big hits from the modest ones.”</a:t>
            </a:r>
          </a:p>
          <a:p>
            <a:endParaRPr lang="en-US" u="sng" dirty="0"/>
          </a:p>
          <a:p>
            <a:r>
              <a:rPr lang="en-US" dirty="0"/>
              <a:t>Q: "Doesn't causation run both ways?"</a:t>
            </a:r>
          </a:p>
          <a:p>
            <a:r>
              <a:rPr lang="en-US" dirty="0"/>
              <a:t>A: "Yes. Playlists drive streams, and streams drive playlist adds.</a:t>
            </a:r>
          </a:p>
          <a:p>
            <a:r>
              <a:rPr lang="en-US" dirty="0"/>
              <a:t>   This is correlational either way - but the variance lives in</a:t>
            </a:r>
          </a:p>
          <a:p>
            <a:r>
              <a:rPr lang="en-US" dirty="0"/>
              <a:t>   playlists, not in how the song sounds."</a:t>
            </a:r>
            <a:endParaRPr u="sng" dirty="0"/>
          </a:p>
          <a:p>
            <a:endParaRPr dirty="0"/>
          </a:p>
          <a:p>
            <a:r>
              <a:rPr dirty="0"/>
              <a:t>Q: "Maybe audio features are just crowded out by playlists?"</a:t>
            </a:r>
          </a:p>
          <a:p>
            <a:r>
              <a:rPr dirty="0"/>
              <a:t>A: "On their own, with playlists out of the model entirely, they</a:t>
            </a:r>
          </a:p>
          <a:p>
            <a:r>
              <a:rPr dirty="0"/>
              <a:t>   explain 0.77%. They're not crowded out. There's nothing there."</a:t>
            </a:r>
          </a:p>
          <a:p>
            <a:endParaRPr dirty="0"/>
          </a:p>
          <a:p>
            <a:r>
              <a:rPr dirty="0"/>
              <a:t>Q: "Could song attributes work indirectly, through playlists?"</a:t>
            </a:r>
          </a:p>
          <a:p>
            <a:r>
              <a:rPr dirty="0"/>
              <a:t>A: "</a:t>
            </a:r>
            <a:r>
              <a:rPr lang="en-US" dirty="0"/>
              <a:t>I checked. Audio features explain about 1% of playlist placement. Not directly, not indirectly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Q: "What about tempo?"</a:t>
            </a:r>
          </a:p>
          <a:p>
            <a:r>
              <a:rPr dirty="0"/>
              <a:t>A: "Tested it. Adds 0.02%, and adjusted R-squared goes down."</a:t>
            </a:r>
          </a:p>
          <a:p>
            <a:endParaRPr dirty="0"/>
          </a:p>
          <a:p>
            <a:r>
              <a:rPr dirty="0"/>
              <a:t>Q: "So playlists are the best promotional investment?"</a:t>
            </a:r>
          </a:p>
          <a:p>
            <a:r>
              <a:rPr dirty="0"/>
              <a:t>A: "I only compared playlists against the song itself. I never tested</a:t>
            </a:r>
          </a:p>
          <a:p>
            <a:r>
              <a:rPr dirty="0"/>
              <a:t>   radio, TikTok, or sync. Can't tell you how it stacks up against those."</a:t>
            </a:r>
            <a:endParaRPr lang="en-US" dirty="0"/>
          </a:p>
          <a:p>
            <a:endParaRPr lang="en-US" dirty="0"/>
          </a:p>
          <a:p>
            <a:r>
              <a:rPr lang="en-US" dirty="0"/>
              <a:t>Q: "Isn't this just older songs having more time to accumulate?"</a:t>
            </a:r>
          </a:p>
          <a:p>
            <a:r>
              <a:rPr lang="en-US" dirty="0"/>
              <a:t>A: "Controlling for release year, the effect actually gets slightly</a:t>
            </a:r>
          </a:p>
          <a:p>
            <a:r>
              <a:rPr lang="en-US" dirty="0"/>
              <a:t>   stronger - 0.672 to 0.684."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31546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B3B3B3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4023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8046720" cy="68652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Spotify Streams? 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24133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sz="1600" dirty="0">
                <a:solidFill>
                  <a:schemeClr val="accent1"/>
                </a:solidFill>
              </a:rPr>
              <a:t>Most Streamed Spotify Songs 2023</a:t>
            </a:r>
            <a:endParaRPr lang="en-US" sz="1400" dirty="0"/>
          </a:p>
        </p:txBody>
      </p:sp>
      <p:sp>
        <p:nvSpPr>
          <p:cNvPr id="4" name="byline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3B3B3"/>
                </a:solidFill>
              </a:rPr>
              <a:t>John Young   |   MKT 282 Marketing Analytics  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C1E4D-1596-A070-09CC-0EAFDDE63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33" y="4343400"/>
            <a:ext cx="2092481" cy="62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know…</a:t>
            </a:r>
            <a:endParaRPr lang="en-US" sz="2600" dirty="0"/>
          </a:p>
        </p:txBody>
      </p:sp>
      <p:sp>
        <p:nvSpPr>
          <p:cNvPr id="3" name="headline"/>
          <p:cNvSpPr txBox="1"/>
          <p:nvPr/>
        </p:nvSpPr>
        <p:spPr>
          <a:xfrm>
            <a:off x="4571999" y="274320"/>
            <a:ext cx="42374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1"/>
                </a:solidFill>
              </a:rPr>
              <a:t>Playlist count explains 68% of streaming variance. How the song sounds adds 0.09%.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scatterPlot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34440"/>
            <a:ext cx="3712464" cy="3017520"/>
          </a:xfrm>
          <a:prstGeom prst="rect">
            <a:avLst/>
          </a:prstGeom>
        </p:spPr>
      </p:pic>
      <p:graphicFrame>
        <p:nvGraphicFramePr>
          <p:cNvPr id="5" name="varianceChart"/>
          <p:cNvGraphicFramePr/>
          <p:nvPr>
            <p:extLst>
              <p:ext uri="{D42A27DB-BD31-4B8C-83A1-F6EECF244321}">
                <p14:modId xmlns:p14="http://schemas.microsoft.com/office/powerpoint/2010/main" val="2654524956"/>
              </p:ext>
            </p:extLst>
          </p:nvPr>
        </p:nvGraphicFramePr>
        <p:xfrm>
          <a:off x="4572000" y="123444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2Source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6E"/>
                </a:solidFill>
              </a:rPr>
              <a:t>Source: Most Streamed Spotify Songs 2023 (Kaggle), n = 951</a:t>
            </a:r>
            <a:endParaRPr lang="en-US" sz="900" dirty="0"/>
          </a:p>
        </p:txBody>
      </p:sp>
      <p:sp>
        <p:nvSpPr>
          <p:cNvPr id="7" name="featureCaption"/>
          <p:cNvSpPr txBox="1"/>
          <p:nvPr/>
        </p:nvSpPr>
        <p:spPr>
          <a:xfrm>
            <a:off x="4572000" y="422452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i="1">
                <a:solidFill>
                  <a:srgbClr val="6E6E6E"/>
                </a:solidFill>
                <a:latin typeface="Calibri"/>
              </a:rPr>
              <a:t>Song characteristics = danceability, energy, valence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did my analysis…</a:t>
            </a:r>
            <a:endParaRPr lang="en-US" sz="2600" dirty="0"/>
          </a:p>
        </p:txBody>
      </p:sp>
      <p:sp>
        <p:nvSpPr>
          <p:cNvPr id="3" name="methodBlock"/>
          <p:cNvSpPr txBox="1"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DV:  </a:t>
            </a:r>
            <a:r>
              <a:rPr lang="en-US" sz="1300" dirty="0">
                <a:solidFill>
                  <a:srgbClr val="3E3E3E"/>
                </a:solidFill>
              </a:rPr>
              <a:t>Spotify Streams (log)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6E"/>
                </a:solidFill>
              </a:rPr>
              <a:t>Most Streamed Spotify Songs 2023, Kaggle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6E"/>
                </a:solidFill>
              </a:rPr>
              <a:t>951 songs after removing 2 broken rows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IVs: 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3E3E3E"/>
                </a:solidFill>
              </a:rPr>
              <a:t>Spotify Playlist Count (log)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3E3E3E"/>
                </a:solidFill>
              </a:rPr>
              <a:t>Danceability 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3E3E3E"/>
                </a:solidFill>
              </a:rPr>
              <a:t>Energy %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3E3E3E"/>
                </a:solidFill>
              </a:rPr>
              <a:t>Valence %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</a:t>
            </a:r>
            <a:r>
              <a:rPr lang="en-US" sz="1300" b="1" dirty="0">
                <a:solidFill>
                  <a:schemeClr val="accent1"/>
                </a:solidFill>
              </a:rPr>
              <a:t>:  </a:t>
            </a:r>
            <a:r>
              <a:rPr lang="en-US" sz="1300" dirty="0">
                <a:solidFill>
                  <a:srgbClr val="3E3E3E"/>
                </a:solidFill>
              </a:rPr>
              <a:t>OLS linear regression</a:t>
            </a:r>
            <a:endParaRPr lang="en-US" sz="1300" dirty="0"/>
          </a:p>
        </p:txBody>
      </p:sp>
      <p:sp>
        <p:nvSpPr>
          <p:cNvPr id="4" name="equationBox"/>
          <p:cNvSpPr/>
          <p:nvPr/>
        </p:nvSpPr>
        <p:spPr>
          <a:xfrm>
            <a:off x="457200" y="377647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quationText"/>
          <p:cNvSpPr txBox="1"/>
          <p:nvPr/>
        </p:nvSpPr>
        <p:spPr>
          <a:xfrm>
            <a:off x="457200" y="37764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91414"/>
                </a:solidFill>
              </a:rPr>
              <a:t>log(streams) = β₀ + β₁log(playlists)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191414"/>
                </a:solidFill>
              </a:rPr>
              <a:t>+ β₂dance + β₃energy + β₄valence</a:t>
            </a:r>
            <a:endParaRPr lang="en-US" sz="1400" dirty="0"/>
          </a:p>
        </p:txBody>
      </p:sp>
      <p:graphicFrame>
        <p:nvGraphicFramePr>
          <p:cNvPr id="6" name="coef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967932"/>
              </p:ext>
            </p:extLst>
          </p:nvPr>
        </p:nvGraphicFramePr>
        <p:xfrm>
          <a:off x="4572000" y="1097280"/>
          <a:ext cx="4114800" cy="13716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 Playlist Count (log)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Danceability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E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itBlock"/>
          <p:cNvSpPr txBox="1"/>
          <p:nvPr/>
        </p:nvSpPr>
        <p:spPr>
          <a:xfrm>
            <a:off x="4572000" y="2706749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E3E3E"/>
                </a:solidFill>
              </a:rPr>
              <a:t>Playlists alone: R² = </a:t>
            </a:r>
            <a:r>
              <a:rPr lang="en-US" sz="1200" b="1" dirty="0">
                <a:solidFill>
                  <a:schemeClr val="accent1"/>
                </a:solidFill>
              </a:rPr>
              <a:t>67.95%</a:t>
            </a:r>
          </a:p>
          <a:p>
            <a:r>
              <a:rPr lang="en-US" sz="1200" dirty="0">
                <a:solidFill>
                  <a:srgbClr val="191414"/>
                </a:solidFill>
              </a:rPr>
              <a:t>Playlists + </a:t>
            </a:r>
            <a:r>
              <a:rPr lang="en-US" sz="1200" dirty="0"/>
              <a:t>Song Characteristics: </a:t>
            </a:r>
            <a:r>
              <a:rPr lang="en-US" sz="1200" dirty="0">
                <a:solidFill>
                  <a:srgbClr val="191414"/>
                </a:solidFill>
              </a:rPr>
              <a:t>R²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191414"/>
                </a:solidFill>
              </a:rPr>
              <a:t>= </a:t>
            </a:r>
            <a:r>
              <a:rPr lang="en-US" sz="1200" b="1" dirty="0">
                <a:solidFill>
                  <a:schemeClr val="accent1"/>
                </a:solidFill>
              </a:rPr>
              <a:t>68.04%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Song Characteristics only add 0.09%</a:t>
            </a:r>
          </a:p>
        </p:txBody>
      </p:sp>
      <p:sp>
        <p:nvSpPr>
          <p:cNvPr id="8" name="s3Limit"/>
          <p:cNvSpPr txBox="1"/>
          <p:nvPr/>
        </p:nvSpPr>
        <p:spPr>
          <a:xfrm>
            <a:off x="4572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6E6E"/>
                </a:solidFill>
              </a:rPr>
              <a:t>Limitation: dataset does not show playlist type: Spotify-curated or user-created.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ing Analytics">
  <a:themeElements>
    <a:clrScheme name="Streaming Analytics">
      <a:dk1>
        <a:srgbClr val="191414"/>
      </a:dk1>
      <a:lt1>
        <a:srgbClr val="FFFFFF"/>
      </a:lt1>
      <a:dk2>
        <a:srgbClr val="3E3E3E"/>
      </a:dk2>
      <a:lt2>
        <a:srgbClr val="F2F2F2"/>
      </a:lt2>
      <a:accent1>
        <a:srgbClr val="1DB954"/>
      </a:accent1>
      <a:accent2>
        <a:srgbClr val="C8102E"/>
      </a:accent2>
      <a:accent3>
        <a:srgbClr val="6E6E6E"/>
      </a:accent3>
      <a:accent4>
        <a:srgbClr val="B3B3B3"/>
      </a:accent4>
      <a:accent5>
        <a:srgbClr val="1DB954"/>
      </a:accent5>
      <a:accent6>
        <a:srgbClr val="191414"/>
      </a:accent6>
      <a:hlink>
        <a:srgbClr val="1DB954"/>
      </a:hlink>
      <a:folHlink>
        <a:srgbClr val="6E6E6E"/>
      </a:folHlink>
    </a:clrScheme>
    <a:fontScheme name="Streaming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727</Words>
  <Application>Microsoft Macintosh PowerPoint</Application>
  <PresentationFormat>On-screen Show (16:9)</PresentationFormat>
  <Paragraphs>105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Streaming Analytics</vt:lpstr>
      <vt:lpstr>What Predicts Spotify Streams? </vt:lpstr>
      <vt:lpstr>What you need to know…</vt:lpstr>
      <vt:lpstr>How I did my analysis…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Playlists, Not Production</dc:title>
  <dc:subject>PptxGenJS Presentation</dc:subject>
  <dc:creator>John Young</dc:creator>
  <cp:lastModifiedBy>John Young</cp:lastModifiedBy>
  <cp:revision>16</cp:revision>
  <dcterms:created xsi:type="dcterms:W3CDTF">2026-10-03T00:12:08Z</dcterms:created>
  <dcterms:modified xsi:type="dcterms:W3CDTF">2026-10-05T03:21:04Z</dcterms:modified>
</cp:coreProperties>
</file>